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3840480" y="548640"/>
            <a:ext cx="4937760" cy="31089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457200"/>
            <a:ext cx="4114800" cy="4114800"/>
          </a:xfrm>
          <a:prstGeom prst="rect">
            <a:avLst/>
          </a:prstGeom>
          <a:solidFill>
            <a:srgbClr val="0B1120">
              <a:alpha val="95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731520" y="1280160"/>
            <a:ext cx="109728" cy="1188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3"/>
          <p:cNvSpPr/>
          <p:nvPr/>
        </p:nvSpPr>
        <p:spPr>
          <a:xfrm>
            <a:off x="1097280" y="11887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DB 贯标助手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1097280" y="1920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功能演示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097280" y="2560320"/>
            <a:ext cx="2286000" cy="0"/>
          </a:xfrm>
          <a:prstGeom prst="line">
            <a:avLst/>
          </a:prstGeom>
          <a:noFill/>
          <a:ln w="38100">
            <a:solidFill>
              <a:srgbClr val="47556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97280" y="27432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数据库表结构智能合规检测</a:t>
            </a:r>
            <a:endParaRPr lang="en-US" sz="13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三步完成贯标检测 · AI 驱动 · 五大维度全覆盖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产品概览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91440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097280"/>
            <a:ext cx="3657600" cy="3474720"/>
          </a:xfrm>
          <a:prstGeom prst="rect">
            <a:avLst>
              <a:gd name="adj" fmla="val 2105"/>
            </a:avLst>
          </a:prstGeom>
          <a:solidFill>
            <a:srgbClr val="111827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097280"/>
            <a:ext cx="73152" cy="3474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143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核心能力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155448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FFFFFF"/>
                </a:solidFill>
              </a:rPr>
              <a:t>智能贯标检测</a:t>
            </a:r>
            <a:endParaRPr lang="en-US" sz="1300" dirty="0"/>
          </a:p>
          <a:p>
            <a:pPr lvl="1"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五大维度自动检测，输出合规评分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FFFFFF"/>
                </a:solidFill>
              </a:rPr>
              <a:t>DDL 实时解析</a:t>
            </a:r>
            <a:endParaRPr lang="en-US" sz="1300" dirty="0"/>
          </a:p>
          <a:p>
            <a:pPr lvl="1"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粘贴 SQL 即可解析，零配置上手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FFFFFF"/>
                </a:solidFill>
              </a:rPr>
              <a:t>多 Agent 协作</a:t>
            </a:r>
            <a:endParaRPr lang="en-US" sz="1300" dirty="0"/>
          </a:p>
          <a:p>
            <a:pPr lvl="1"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三种内置模式 + 可扩展模板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FFFFFF"/>
                </a:solidFill>
              </a:rPr>
              <a:t>合规评分报告</a:t>
            </a:r>
            <a:endParaRPr lang="en-US" sz="1300" dirty="0"/>
          </a:p>
          <a:p>
            <a:pPr lvl="1"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自动评分 + 字段级改进建议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FFFFFF"/>
                </a:solidFill>
              </a:rPr>
              <a:t>双模式运行</a:t>
            </a:r>
            <a:endParaRPr lang="en-US" sz="1300" dirty="0"/>
          </a:p>
          <a:p>
            <a:pPr lvl="1"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浏览器开发 + Electron 桌面端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097280"/>
            <a:ext cx="3931920" cy="2743200"/>
          </a:xfrm>
          <a:prstGeom prst="ellipse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1: 选择检测模式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91440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097280"/>
            <a:ext cx="5669280" cy="3474720"/>
          </a:xfrm>
          <a:prstGeom prst="rect">
            <a:avLst>
              <a:gd name="adj" fmla="val 2105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234440"/>
            <a:ext cx="5303520" cy="3200400"/>
          </a:xfrm>
          <a:prstGeom prst="ellipse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675120" y="1097280"/>
            <a:ext cx="2011680" cy="3474720"/>
          </a:xfrm>
          <a:prstGeom prst="rect">
            <a:avLst>
              <a:gd name="adj" fmla="val 3636"/>
            </a:avLst>
          </a:prstGeom>
          <a:solidFill>
            <a:srgbClr val="111827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675120" y="1097280"/>
            <a:ext cx="73152" cy="3474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6"/>
          <p:cNvSpPr/>
          <p:nvPr/>
        </p:nvSpPr>
        <p:spPr>
          <a:xfrm>
            <a:off x="6903720" y="1234440"/>
            <a:ext cx="1554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</a:rPr>
              <a:t>三种检测模式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表结构贯标检测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主检测 Agent，完整贯标检测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</a:rPr>
              <a:t>贯标规则配置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自定义检测规则体系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DDL 解析分析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解析 SQL DDL 提取结构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2: 粘贴 DDL 语句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097280"/>
            <a:ext cx="5669280" cy="3474720"/>
          </a:xfrm>
          <a:prstGeom prst="rect">
            <a:avLst>
              <a:gd name="adj" fmla="val 2105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234440"/>
            <a:ext cx="5303520" cy="3200400"/>
          </a:xfrm>
          <a:prstGeom prst="ellipse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675120" y="1097280"/>
            <a:ext cx="2011680" cy="3474720"/>
          </a:xfrm>
          <a:prstGeom prst="rect">
            <a:avLst>
              <a:gd name="adj" fmla="val 3636"/>
            </a:avLst>
          </a:prstGeom>
          <a:solidFill>
            <a:srgbClr val="111827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675120" y="1097280"/>
            <a:ext cx="73152" cy="34747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9" name="Text 6"/>
          <p:cNvSpPr/>
          <p:nvPr/>
        </p:nvSpPr>
        <p:spPr>
          <a:xfrm>
            <a:off x="6903720" y="1234440"/>
            <a:ext cx="1554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</a:rPr>
              <a:t>DDL 示例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CREATE TABLE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user_order (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  id INT PK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F97316"/>
                </a:solidFill>
              </a:rPr>
              <a:t>  userId INT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  price DECIMAL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F97316"/>
                </a:solidFill>
              </a:rPr>
              <a:t>  status ENUM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  ...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)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待检测问题: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</a:rPr>
              <a:t>userId 驼峰命名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</a:rPr>
              <a:t>ENUM 类型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</a:rPr>
              <a:t>缺少审计字段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</a:rPr>
              <a:t>外键约束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</a:rPr>
              <a:t>缺少 COMMENT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3: AI 自动检测 — 检测报告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91440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51560"/>
            <a:ext cx="8229600" cy="3840480"/>
          </a:xfrm>
          <a:prstGeom prst="rect">
            <a:avLst>
              <a:gd name="adj" fmla="val 1905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43000"/>
            <a:ext cx="8046720" cy="3657600"/>
          </a:xfrm>
          <a:prstGeom prst="ellipse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合规评分详情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60120"/>
            <a:ext cx="5486400" cy="384048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943600" y="1005840"/>
            <a:ext cx="2926080" cy="3749040"/>
          </a:xfrm>
          <a:prstGeom prst="rect">
            <a:avLst>
              <a:gd name="adj" fmla="val 2500"/>
            </a:avLst>
          </a:prstGeom>
          <a:solidFill>
            <a:srgbClr val="111827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943600" y="1005840"/>
            <a:ext cx="73152" cy="374904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8" name="Text 5"/>
          <p:cNvSpPr/>
          <p:nvPr/>
        </p:nvSpPr>
        <p:spPr>
          <a:xfrm>
            <a:off x="6172200" y="1097280"/>
            <a:ext cx="2468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A580C"/>
                </a:solidFill>
              </a:rPr>
              <a:t>五大维度评分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</a:rPr>
              <a:t>命名规范  80/100</a:t>
            </a:r>
            <a:endParaRPr lang="en-US" sz="1400" dirty="0"/>
          </a:p>
          <a:p>
            <a:pPr lvl="1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部分合规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EF4444"/>
                </a:solidFill>
              </a:rPr>
              <a:t>字段规范  48/100</a:t>
            </a:r>
            <a:endParaRPr lang="en-US" sz="1400" dirty="0"/>
          </a:p>
          <a:p>
            <a:pPr lvl="1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不合规 — 缺审计字段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EF4444"/>
                </a:solidFill>
              </a:rPr>
              <a:t>索引规范  40/100</a:t>
            </a:r>
            <a:endParaRPr lang="en-US" sz="1400" dirty="0"/>
          </a:p>
          <a:p>
            <a:pPr lvl="1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不合规 — 外键无索引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EF4444"/>
                </a:solidFill>
              </a:rPr>
              <a:t>设计规范  36/100</a:t>
            </a:r>
            <a:endParaRPr lang="en-US" sz="1400" dirty="0"/>
          </a:p>
          <a:p>
            <a:pPr lvl="1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不合规 — 外键+无注释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安全合规  60/100</a:t>
            </a:r>
            <a:endParaRPr lang="en-US" sz="1400" dirty="0"/>
          </a:p>
          <a:p>
            <a:pPr lvl="1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部分合规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综合评分  52.8/100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问题清单 — 字段级改进建议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005840"/>
            <a:ext cx="8595360" cy="3840480"/>
          </a:xfrm>
          <a:prstGeom prst="rect">
            <a:avLst>
              <a:gd name="adj" fmla="val 1905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8412480" cy="3657600"/>
          </a:xfrm>
          <a:prstGeom prst="ellipse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贯标前后 DDL 对比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91440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960120"/>
            <a:ext cx="8595360" cy="2834640"/>
          </a:xfrm>
          <a:prstGeom prst="rect">
            <a:avLst>
              <a:gd name="adj" fmla="val 2581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05840"/>
            <a:ext cx="8412480" cy="2743200"/>
          </a:xfrm>
          <a:prstGeom prst="ellipse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3886200"/>
            <a:ext cx="2011680" cy="1051560"/>
          </a:xfrm>
          <a:prstGeom prst="rect">
            <a:avLst>
              <a:gd name="adj" fmla="val 6957"/>
            </a:avLst>
          </a:prstGeom>
          <a:solidFill>
            <a:srgbClr val="111827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3886200"/>
            <a:ext cx="54864" cy="10515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3931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命名修正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94360" y="42062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CBD5E1"/>
                </a:solidFill>
              </a:rPr>
              <a:t>userId → user_id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CBD5E1"/>
                </a:solidFill>
              </a:rPr>
              <a:t>user_order → order_trade_detail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606040" y="3886200"/>
            <a:ext cx="2011680" cy="1051560"/>
          </a:xfrm>
          <a:prstGeom prst="rect">
            <a:avLst>
              <a:gd name="adj" fmla="val 6957"/>
            </a:avLst>
          </a:prstGeom>
          <a:solidFill>
            <a:srgbClr val="111827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606040" y="3886200"/>
            <a:ext cx="54864" cy="10515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3" name="Text 10"/>
          <p:cNvSpPr/>
          <p:nvPr/>
        </p:nvSpPr>
        <p:spPr>
          <a:xfrm>
            <a:off x="2743200" y="3931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类型修正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743200" y="42062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CBD5E1"/>
                </a:solidFill>
              </a:rPr>
              <a:t>id INT → BIGINT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CBD5E1"/>
                </a:solidFill>
              </a:rPr>
              <a:t>ENUM → TINYINT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CBD5E1"/>
                </a:solidFill>
              </a:rPr>
              <a:t>DECIMAL(10,2) → (18,2)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754880" y="3886200"/>
            <a:ext cx="2011680" cy="1051560"/>
          </a:xfrm>
          <a:prstGeom prst="rect">
            <a:avLst>
              <a:gd name="adj" fmla="val 6957"/>
            </a:avLst>
          </a:prstGeom>
          <a:solidFill>
            <a:srgbClr val="111827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754880" y="3886200"/>
            <a:ext cx="54864" cy="105156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7" name="Text 14"/>
          <p:cNvSpPr/>
          <p:nvPr/>
        </p:nvSpPr>
        <p:spPr>
          <a:xfrm>
            <a:off x="4892040" y="3931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新增审计字段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892040" y="42062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CBD5E1"/>
                </a:solidFill>
              </a:rPr>
              <a:t>+ updated_time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CBD5E1"/>
                </a:solidFill>
              </a:rPr>
              <a:t>+ created_by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CBD5E1"/>
                </a:solidFill>
              </a:rPr>
              <a:t>+ updated_by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903720" y="3886200"/>
            <a:ext cx="2011680" cy="1051560"/>
          </a:xfrm>
          <a:prstGeom prst="rect">
            <a:avLst>
              <a:gd name="adj" fmla="val 6957"/>
            </a:avLst>
          </a:prstGeom>
          <a:solidFill>
            <a:srgbClr val="111827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903720" y="3886200"/>
            <a:ext cx="54864" cy="1051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8"/>
          <p:cNvSpPr/>
          <p:nvPr/>
        </p:nvSpPr>
        <p:spPr>
          <a:xfrm>
            <a:off x="7040880" y="3931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设计修正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040880" y="42062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CBD5E1"/>
                </a:solidFill>
              </a:rPr>
              <a:t>移除 FOREIGN KEY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CBD5E1"/>
                </a:solidFill>
              </a:rPr>
              <a:t>+ COMMENT 注释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CBD5E1"/>
                </a:solidFill>
              </a:rPr>
              <a:t>+ utf8mb4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16 项关键修改清单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960120"/>
            <a:ext cx="8595360" cy="3931920"/>
          </a:xfrm>
          <a:prstGeom prst="rect">
            <a:avLst>
              <a:gd name="adj" fmla="val 186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05840"/>
            <a:ext cx="8412480" cy="3840480"/>
          </a:xfrm>
          <a:prstGeom prst="ellipse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其他检测模式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097280"/>
            <a:ext cx="3886200" cy="3474720"/>
          </a:xfrm>
          <a:prstGeom prst="rect">
            <a:avLst>
              <a:gd name="adj" fmla="val 2105"/>
            </a:avLst>
          </a:prstGeom>
          <a:solidFill>
            <a:srgbClr val="111827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097280"/>
            <a:ext cx="388620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1887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贯标规则配置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00200"/>
            <a:ext cx="3566160" cy="2103120"/>
          </a:xfrm>
          <a:prstGeom prst="ellipse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37947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自定义检测规则体系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规则配置 JSON/YAML 导出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92040" y="1097280"/>
            <a:ext cx="3886200" cy="3474720"/>
          </a:xfrm>
          <a:prstGeom prst="rect">
            <a:avLst>
              <a:gd name="adj" fmla="val 2105"/>
            </a:avLst>
          </a:prstGeom>
          <a:solidFill>
            <a:srgbClr val="111827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92040" y="1097280"/>
            <a:ext cx="388620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0" y="11887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DDL 解析分析</a:t>
            </a:r>
            <a:endParaRPr lang="en-US" sz="16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00200"/>
            <a:ext cx="3566160" cy="2103120"/>
          </a:xfrm>
          <a:prstGeom prst="ellipse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029200" y="37947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解析 SQL DDL 提取表结构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字段/索引/约束格式化展示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技术架构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188720"/>
            <a:ext cx="7680960" cy="640080"/>
          </a:xfrm>
          <a:prstGeom prst="rect">
            <a:avLst>
              <a:gd name="adj" fmla="val 11429"/>
            </a:avLst>
          </a:prstGeom>
          <a:solidFill>
            <a:srgbClr val="111827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188720"/>
            <a:ext cx="91440" cy="6400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128016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1280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91640" y="11887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前端层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834640" y="118872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18 + TypeScript + Vite 5 + TDesign + Tailwind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1965960"/>
            <a:ext cx="7680960" cy="640080"/>
          </a:xfrm>
          <a:prstGeom prst="rect">
            <a:avLst>
              <a:gd name="adj" fmla="val 11429"/>
            </a:avLst>
          </a:prstGeom>
          <a:solidFill>
            <a:srgbClr val="111827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1965960"/>
            <a:ext cx="91440" cy="6400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3" name="Shape 11"/>
          <p:cNvSpPr/>
          <p:nvPr/>
        </p:nvSpPr>
        <p:spPr>
          <a:xfrm>
            <a:off x="1097280" y="2057400"/>
            <a:ext cx="411480" cy="41148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2057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91640" y="19659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834640" y="19659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 4 + Agent SDK + SSE 流式推送 + SQLite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2743200"/>
            <a:ext cx="7680960" cy="640080"/>
          </a:xfrm>
          <a:prstGeom prst="rect">
            <a:avLst>
              <a:gd name="adj" fmla="val 11429"/>
            </a:avLst>
          </a:prstGeom>
          <a:solidFill>
            <a:srgbClr val="111827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1520" y="2743200"/>
            <a:ext cx="91440" cy="64008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7280" y="2834640"/>
            <a:ext cx="411480" cy="41148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20" name="Text 18"/>
          <p:cNvSpPr/>
          <p:nvPr/>
        </p:nvSpPr>
        <p:spPr>
          <a:xfrm>
            <a:off x="1097280" y="2834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691640" y="27432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桌面层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834640" y="274320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 33 + contextBridge 安全封装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31520" y="3520440"/>
            <a:ext cx="7680960" cy="594360"/>
          </a:xfrm>
          <a:prstGeom prst="rect">
            <a:avLst>
              <a:gd name="adj" fmla="val 12308"/>
            </a:avLst>
          </a:prstGeom>
          <a:solidFill>
            <a:srgbClr val="111827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31520" y="3520440"/>
            <a:ext cx="91440" cy="5943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35204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数据流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011680" y="3520440"/>
            <a:ext cx="6217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用户输入 → Express → Agent SDK query() → SSE 推送 → 实时渲染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31520" y="4297680"/>
            <a:ext cx="3657600" cy="502920"/>
          </a:xfrm>
          <a:prstGeom prst="rect">
            <a:avLst>
              <a:gd name="adj" fmla="val 14545"/>
            </a:avLst>
          </a:prstGeom>
          <a:solidFill>
            <a:srgbClr val="111827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31520" y="4297680"/>
            <a:ext cx="91440" cy="5029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" y="42976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pnpm dev (浏览器) | pnpm dev:electron (桌面端)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63440" y="4297680"/>
            <a:ext cx="3749040" cy="502920"/>
          </a:xfrm>
          <a:prstGeom prst="rect">
            <a:avLst>
              <a:gd name="adj" fmla="val 14545"/>
            </a:avLst>
          </a:prstGeom>
          <a:solidFill>
            <a:srgbClr val="111827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4297680"/>
            <a:ext cx="91440" cy="5029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2" name="Text 30"/>
          <p:cNvSpPr/>
          <p:nvPr/>
        </p:nvSpPr>
        <p:spPr>
          <a:xfrm>
            <a:off x="4937760" y="4297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CodeBuddy Agent SDK v0.3.43+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828800" y="731520"/>
            <a:ext cx="5486400" cy="3657600"/>
          </a:xfrm>
          <a:prstGeom prst="rect">
            <a:avLst/>
          </a:prstGeom>
          <a:solidFill>
            <a:srgbClr val="0B1120">
              <a:alpha val="90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3657600" y="1005840"/>
            <a:ext cx="18288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3"/>
          <p:cNvSpPr/>
          <p:nvPr/>
        </p:nvSpPr>
        <p:spPr>
          <a:xfrm>
            <a:off x="914400" y="12801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让每一张表都符合标准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914400" y="21031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贯标助手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3200400" y="2743200"/>
            <a:ext cx="274320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2926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选择模式 → 粘贴 DDL → AI 检测 → 获取报告 → 修正 DDL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14400" y="33832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CodeBuddy Agent SDK  |  React + Electron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14400" y="3749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github.com/XielyCoder/db-standard-checker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DB 贯标助手 - 功能演示</dc:title>
  <dc:subject>PptxGenJS Presentation</dc:subject>
  <dc:creator>DB 贯标助手</dc:creator>
  <cp:lastModifiedBy>DB 贯标助手</cp:lastModifiedBy>
  <cp:revision>1</cp:revision>
  <dcterms:created xsi:type="dcterms:W3CDTF">2026-05-29T13:19:33Z</dcterms:created>
  <dcterms:modified xsi:type="dcterms:W3CDTF">2026-05-29T13:19:33Z</dcterms:modified>
</cp:coreProperties>
</file>